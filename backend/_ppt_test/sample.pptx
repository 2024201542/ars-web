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开场：本文想回答什么</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这一页讲清楚悖论的两面</a:t>
            </a:r>
          </a:p>
          <a:p>
            <a:r>
              <a:t>这一条会很长很长很长很长很长很长很长很长很长很长很长很长很长很长很长很长很长很长很长很长很长很长很长</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3000" b="1">
                <a:solidFill>
                  <a:srgbClr val="9E1B32"/>
                </a:solidFill>
                <a:latin typeface="微软雅黑"/>
                <a:ea typeface="微软雅黑"/>
                <a:cs typeface="微软雅黑"/>
              </a:rPr>
              <a:t>中国农村改革</a:t>
            </a:r>
          </a:p>
        </p:txBody>
      </p:sp>
      <p:sp>
        <p:nvSpPr>
          <p:cNvPr id="3" name="Subtitle 2"/>
          <p:cNvSpPr>
            <a:spLocks noGrp="1"/>
          </p:cNvSpPr>
          <p:nvPr>
            <p:ph type="subTitle" idx="1"/>
          </p:nvPr>
        </p:nvSpPr>
        <p:spPr/>
        <p:txBody>
          <a:bodyPr/>
          <a:lstStyle/>
          <a:p>
            <a:r>
              <a:rPr sz="1800">
                <a:solidFill>
                  <a:srgbClr val="595959"/>
                </a:solidFill>
                <a:latin typeface="微软雅黑"/>
                <a:ea typeface="微软雅黑"/>
                <a:cs typeface="微软雅黑"/>
              </a:rPr>
              <a:t>国家与土地产权关系的变化</a:t>
            </a:r>
          </a:p>
        </p:txBody>
      </p:sp>
      <p:sp>
        <p:nvSpPr>
          <p:cNvPr id="4" name="Rectangle 3"/>
          <p:cNvSpPr/>
          <p:nvPr/>
        </p:nvSpPr>
        <p:spPr>
          <a:xfrm>
            <a:off x="5394960" y="2788920"/>
            <a:ext cx="1371600" cy="63500"/>
          </a:xfrm>
          <a:prstGeom prst="rect">
            <a:avLst/>
          </a:prstGeom>
          <a:solidFill>
            <a:srgbClr val="9E1B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solidFill>
                  <a:srgbClr val="9E1B32"/>
                </a:solidFill>
                <a:latin typeface="微软雅黑"/>
                <a:ea typeface="微软雅黑"/>
                <a:cs typeface="微软雅黑"/>
              </a:rPr>
              <a:t>汇报框架</a:t>
            </a:r>
          </a:p>
        </p:txBody>
      </p:sp>
      <p:sp>
        <p:nvSpPr>
          <p:cNvPr id="3" name="Content Placeholder 2"/>
          <p:cNvSpPr>
            <a:spLocks noGrp="1"/>
          </p:cNvSpPr>
          <p:nvPr>
            <p:ph idx="1"/>
          </p:nvPr>
        </p:nvSpPr>
        <p:spPr/>
        <p:txBody>
          <a:bodyPr/>
          <a:lstStyle/>
          <a:p>
            <a:pPr/>
            <a:r>
              <a:rPr sz="1700" b="0">
                <a:solidFill>
                  <a:srgbClr val="262626"/>
                </a:solidFill>
                <a:latin typeface="微软雅黑"/>
                <a:ea typeface="微软雅黑"/>
                <a:cs typeface="微软雅黑"/>
              </a:rPr>
              <a:t>一、所有权悖论</a:t>
            </a:r>
          </a:p>
          <a:p>
            <a:pPr/>
            <a:r>
              <a:rPr sz="1700" b="0">
                <a:solidFill>
                  <a:srgbClr val="262626"/>
                </a:solidFill>
                <a:latin typeface="微软雅黑"/>
                <a:ea typeface="微软雅黑"/>
                <a:cs typeface="微软雅黑"/>
              </a:rPr>
              <a:t>二、改革前的产权制度</a:t>
            </a:r>
          </a:p>
          <a:p>
            <a:pPr/>
            <a:r>
              <a:rPr sz="1700" b="0">
                <a:solidFill>
                  <a:srgbClr val="262626"/>
                </a:solidFill>
                <a:latin typeface="微软雅黑"/>
                <a:ea typeface="微软雅黑"/>
                <a:cs typeface="微软雅黑"/>
              </a:rPr>
              <a:t>三、人民公社内部的变革</a:t>
            </a:r>
          </a:p>
        </p:txBody>
      </p:sp>
      <p:sp>
        <p:nvSpPr>
          <p:cNvPr id="4" name="Rectangle 3"/>
          <p:cNvSpPr/>
          <p:nvPr/>
        </p:nvSpPr>
        <p:spPr>
          <a:xfrm>
            <a:off x="566928" y="841248"/>
            <a:ext cx="1005840" cy="57150"/>
          </a:xfrm>
          <a:prstGeom prst="rect">
            <a:avLst/>
          </a:prstGeom>
          <a:solidFill>
            <a:srgbClr val="9E1B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solidFill>
                  <a:srgbClr val="9E1B32"/>
                </a:solidFill>
                <a:latin typeface="微软雅黑"/>
                <a:ea typeface="微软雅黑"/>
                <a:cs typeface="微软雅黑"/>
              </a:rPr>
              <a:t>所有权悖论</a:t>
            </a:r>
          </a:p>
        </p:txBody>
      </p:sp>
      <p:sp>
        <p:nvSpPr>
          <p:cNvPr id="3" name="Content Placeholder 2"/>
          <p:cNvSpPr>
            <a:spLocks noGrp="1"/>
          </p:cNvSpPr>
          <p:nvPr>
            <p:ph idx="1"/>
          </p:nvPr>
        </p:nvSpPr>
        <p:spPr/>
        <p:txBody>
          <a:bodyPr/>
          <a:lstStyle/>
          <a:p>
            <a:pPr/>
            <a:r>
              <a:rPr sz="1700" b="0">
                <a:solidFill>
                  <a:srgbClr val="262626"/>
                </a:solidFill>
                <a:latin typeface="微软雅黑"/>
                <a:ea typeface="微软雅黑"/>
                <a:cs typeface="微软雅黑"/>
              </a:rPr>
              <a:t>国家保护有效产权是长期增长的关键</a:t>
            </a:r>
          </a:p>
          <a:p>
            <a:pPr/>
            <a:r>
              <a:rPr sz="1700" b="0">
                <a:solidFill>
                  <a:srgbClr val="262626"/>
                </a:solidFill>
                <a:latin typeface="微软雅黑"/>
                <a:ea typeface="微软雅黑"/>
                <a:cs typeface="微软雅黑"/>
              </a:rPr>
              <a:t>国家不会自动提供这种保护</a:t>
            </a:r>
          </a:p>
          <a:p>
            <a:pPr lvl="1"/>
            <a:r>
              <a:rPr sz="1300" b="0">
                <a:solidFill>
                  <a:srgbClr val="595959"/>
                </a:solidFill>
                <a:latin typeface="微软雅黑"/>
                <a:ea typeface="微软雅黑"/>
                <a:cs typeface="微软雅黑"/>
              </a:rPr>
              <a:t>需要农户与社区精英参与</a:t>
            </a:r>
          </a:p>
          <a:p>
            <a:pPr lvl="1"/>
            <a:r>
              <a:rPr sz="1300" b="0">
                <a:solidFill>
                  <a:srgbClr val="595959"/>
                </a:solidFill>
                <a:latin typeface="微软雅黑"/>
                <a:ea typeface="微软雅黑"/>
                <a:cs typeface="微软雅黑"/>
              </a:rPr>
              <a:t>经沟通与讨价还价达成交易</a:t>
            </a:r>
          </a:p>
          <a:p>
            <a:pPr/>
            <a:r>
              <a:rPr sz="1700" b="0">
                <a:solidFill>
                  <a:srgbClr val="262626"/>
                </a:solidFill>
                <a:latin typeface="微软雅黑"/>
                <a:ea typeface="微软雅黑"/>
                <a:cs typeface="微软雅黑"/>
              </a:rPr>
              <a:t>这一条会很长很长很长很长很长很长很长很长很长很长很长很长很长很长很长很长很长很长…</a:t>
            </a:r>
          </a:p>
        </p:txBody>
      </p:sp>
      <p:sp>
        <p:nvSpPr>
          <p:cNvPr id="4" name="Rectangle 3"/>
          <p:cNvSpPr/>
          <p:nvPr/>
        </p:nvSpPr>
        <p:spPr>
          <a:xfrm>
            <a:off x="566928" y="841248"/>
            <a:ext cx="1005840" cy="57150"/>
          </a:xfrm>
          <a:prstGeom prst="rect">
            <a:avLst/>
          </a:prstGeom>
          <a:solidFill>
            <a:srgbClr val="9E1B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