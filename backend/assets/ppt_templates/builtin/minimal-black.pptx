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926080" cy="5486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演示文稿标题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副标题：研究主题与核心结论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汇报人：XXX　　日期：2026 年 X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汇报框架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▪ 一、研究背景与问题提出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▪ 二、已有讨论与理论框架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▪ 三、制度变迁的历史过程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▪ 四、机制分析与证据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▪ 五、结论与讨论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一、研究背景与问题提出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920240" cy="5486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▪ 要点一：把研究问题收成一句可检验的命题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▪ 要点二：交代材料来源与时间范围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▪ 要点三：指出既有解释留下的缺口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二、已有讨论与理论框架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920240" cy="5486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▪ 讨论一：所有权与国家关系的经典解释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▪ 讨论二：诺斯难题与制度变迁的动因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▪ 讨论三：交易费用与产权界定的关系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▪ 讨论四：集体行动与国家能力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▪ 讨论五：本文的推进方向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三、两种解释的对照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既有解释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· 把制度变迁归因于外部冲击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· 忽略行为主体的策略选择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55448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本文解释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· 把制度变迁归因于外部冲击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· 忽略行为主体的策略选择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关键数据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50 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1949—1999：制度变迁的时间跨度与关键节点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原文摘录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“如果不把国家及其代理人的行为引进来，就无法理解产权安排及其变迁，也无法解释为什么有效率的产权制度难以长期维持。”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三个要点并列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3291840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卡片 1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· 一句话说明这一点的含义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600200"/>
            <a:ext cx="3291840" cy="10972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卡片 2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· 一句话说明这一点的含义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0416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0416" y="1600200"/>
            <a:ext cx="3291840" cy="10972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卡片 3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· 一句话说明这一点的含义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制度变迁的三个节点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246120"/>
            <a:ext cx="10149840" cy="457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3063240"/>
            <a:ext cx="256032" cy="2560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1949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· 这一阶段的制度特征与关键事件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3063240"/>
            <a:ext cx="256032" cy="2560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1969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· 这一阶段的制度特征与关键事件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3063240"/>
            <a:ext cx="256032" cy="2560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1989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· 这一阶段的制度特征与关键事件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3063240"/>
            <a:ext cx="256032" cy="2560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2009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· 这一阶段的制度特征与关键事件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0" y="2788920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四、结论与讨论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1A1A"/>
                </a:solidFill>
                <a:latin typeface="思源黑体"/>
                <a:ea typeface="思源黑体"/>
                <a:cs typeface="思源黑体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思源黑体"/>
                <a:ea typeface="思源黑体"/>
                <a:cs typeface="思源黑体"/>
              </a:rPr>
              <a:t>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